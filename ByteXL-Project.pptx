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4" r:id="rId10"/>
    <p:sldId id="263" r:id="rId11"/>
    <p:sldId id="265" r:id="rId12"/>
    <p:sldId id="266" r:id="rId13"/>
  </p:sldIdLst>
  <p:sldSz cx="9144000" cy="5143500" type="screen16x9"/>
  <p:notesSz cx="6858000" cy="9144000"/>
  <p:embeddedFontLst>
    <p:embeddedFont>
      <p:font typeface="Neue Haas Grotesk Text Pro" panose="020B0504020202020204" pitchFamily="34" charset="0"/>
      <p:regular r:id="rId15"/>
      <p:bold r:id="rId16"/>
      <p:italic r:id="rId17"/>
      <p:boldItalic r:id="rId18"/>
    </p:embeddedFont>
    <p:embeddedFont>
      <p:font typeface="Times New Roman Bold" panose="02020803070505020304" pitchFamily="18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BF8425F-869D-4DA3-AD93-04BD5A0A779B}">
          <p14:sldIdLst>
            <p14:sldId id="256"/>
            <p14:sldId id="257"/>
            <p14:sldId id="258"/>
            <p14:sldId id="259"/>
            <p14:sldId id="260"/>
            <p14:sldId id="267"/>
            <p14:sldId id="261"/>
            <p14:sldId id="262"/>
            <p14:sldId id="264"/>
            <p14:sldId id="26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E3DA"/>
    <a:srgbClr val="00F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F46B89A-CCA6-F695-291F-2B0E3C06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903D671D-03E9-8E8B-E8EF-18D270042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C27B6DA6-937D-D39E-C66E-FCA0AE9A0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881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9D98CF5-6591-927A-ED8A-154F3B71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692F26FE-ADB0-D486-2BE6-C663C1C20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A6B010D5-72E9-6C09-A1C7-524C4F803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5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0EF713C-651B-58BE-FE8D-3948FC7E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9C3B4F2D-4033-EBC1-6879-0286732CA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B60C4C58-15FB-5B85-445E-0E3933A64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61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F138D2E-4FA3-C5A5-3A08-F8629AA7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D2504BCB-81AA-214C-28DD-C917C719C4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5811CE07-D014-FF25-8D30-807D7EC60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721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5211CB9-8CFB-F5BA-040B-47B14AE7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5C72ACB6-E499-6504-4E0F-65346D581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0723ACD0-E016-B986-B593-ED939A062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728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087C2D6-9B38-A529-AF04-71C49BF1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BBD49C5E-9E4C-B878-1F3E-EEFBF2047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DC0A401E-D15F-77A0-017B-FA2334786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197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2D54201-F505-5A85-F0B0-A2D94673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523A92DB-6B31-8356-26C8-FA6511AA1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544CEBEC-B7F2-8E9C-7F49-3A8BEDFFA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DD9ED2E-BE99-9DE3-B98B-74BA3C42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655A0566-0CAC-CD4F-CA92-687747E81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79DD4F69-24E2-9CEF-6C29-93170DC22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775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823B00C-20E2-0339-F37E-E6F9F6DEB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8450C6D7-26B7-96CC-73F8-7A753004D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1F0F98A8-01AA-2AB5-1346-07AF213F8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975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DB42EF6-D744-411B-5B7B-AF2DACB6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B287FD6B-B03A-92DF-69A9-D11581A9F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EAD24F11-85F9-01D7-B6AE-2641D922B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686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BAC45FC-9794-9E1D-9597-2E3C478F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>
            <a:extLst>
              <a:ext uri="{FF2B5EF4-FFF2-40B4-BE49-F238E27FC236}">
                <a16:creationId xmlns:a16="http://schemas.microsoft.com/office/drawing/2014/main" id="{ADA8F68E-C77B-94BA-1489-AF91CEB5D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" name="Google Shape;70;gc6fa3c898_0_0:notes">
            <a:extLst>
              <a:ext uri="{FF2B5EF4-FFF2-40B4-BE49-F238E27FC236}">
                <a16:creationId xmlns:a16="http://schemas.microsoft.com/office/drawing/2014/main" id="{9B77A23E-6AA0-E90A-A805-93DABED21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57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0574" y="1"/>
            <a:ext cx="9164574" cy="5149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1444" y="1365365"/>
            <a:ext cx="3600450" cy="20716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1445" y="3536116"/>
            <a:ext cx="2873156" cy="11224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1444" y="164592"/>
            <a:ext cx="20278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6580" y="164592"/>
            <a:ext cx="112152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44194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3089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39621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8925"/>
            <a:ext cx="9144001" cy="514928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344440"/>
            <a:ext cx="4243851" cy="2018519"/>
          </a:xfrm>
        </p:spPr>
        <p:txBody>
          <a:bodyPr/>
          <a:lstStyle>
            <a:lvl1pPr>
              <a:defRPr sz="34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1698" y="387450"/>
            <a:ext cx="1945361" cy="122091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1699" y="164592"/>
            <a:ext cx="187803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1" y="164592"/>
            <a:ext cx="85978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917442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1714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7883"/>
            <a:ext cx="9141714" cy="1795618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825" y="3347883"/>
            <a:ext cx="2540890" cy="1795618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28242" y="164592"/>
            <a:ext cx="2055462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649571" y="164592"/>
            <a:ext cx="1468493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21647" y="164592"/>
            <a:ext cx="336604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89361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3587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485" y="3233854"/>
            <a:ext cx="6439003" cy="1776225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199213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4592"/>
            <a:ext cx="143494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4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4200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9144000" cy="2151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76" y="1604082"/>
            <a:ext cx="4824950" cy="1471612"/>
          </a:xfrm>
        </p:spPr>
        <p:txBody>
          <a:bodyPr anchor="t">
            <a:norm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14975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4976" y="1604082"/>
            <a:ext cx="2788815" cy="3082218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354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7487" y="1916813"/>
            <a:ext cx="9144000" cy="3257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39" y="2611285"/>
            <a:ext cx="4122320" cy="1569204"/>
          </a:xfrm>
        </p:spPr>
        <p:txBody>
          <a:bodyPr anchor="t">
            <a:normAutofit/>
          </a:bodyPr>
          <a:lstStyle>
            <a:lvl1pPr>
              <a:defRPr sz="5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9144000" cy="1916813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246" y="2050551"/>
            <a:ext cx="204549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9176" y="2050551"/>
            <a:ext cx="1190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461" y="2050551"/>
            <a:ext cx="39502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39176" y="2611285"/>
            <a:ext cx="2937077" cy="2074415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marL="171450" lvl="0" indent="-171450"/>
            <a:r>
              <a:rPr lang="en-US"/>
              <a:t>Click to edit Master text styles</a:t>
            </a:r>
          </a:p>
          <a:p>
            <a:pPr marL="171450" lvl="1" indent="-171450"/>
            <a:r>
              <a:rPr lang="en-US"/>
              <a:t>Second level</a:t>
            </a:r>
          </a:p>
          <a:p>
            <a:pPr marL="171450" lvl="2" indent="-171450"/>
            <a:r>
              <a:rPr lang="en-US"/>
              <a:t>Third level</a:t>
            </a:r>
          </a:p>
          <a:p>
            <a:pPr marL="171450" lvl="3" indent="-171450"/>
            <a:r>
              <a:rPr lang="en-US"/>
              <a:t>Fourth level</a:t>
            </a:r>
          </a:p>
          <a:p>
            <a:pPr marL="171450" lvl="4" indent="-17145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033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4743451" y="1"/>
            <a:ext cx="4410941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9" y="957742"/>
            <a:ext cx="4033700" cy="739244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563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7721" y="161144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08" y="1853802"/>
            <a:ext cx="4033701" cy="2747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36790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305175"/>
            <a:ext cx="6858000" cy="1838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15034"/>
            <a:ext cx="2630992" cy="2425446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56296"/>
            <a:ext cx="1899089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00550" y="156296"/>
            <a:ext cx="15131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41" y="156296"/>
            <a:ext cx="41486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0551" y="1415034"/>
            <a:ext cx="3371850" cy="24254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2325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27" y="836676"/>
            <a:ext cx="1878948" cy="12180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013036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30548" y="161867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682" y="161867"/>
            <a:ext cx="411954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1327" y="2271392"/>
            <a:ext cx="1878948" cy="25577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30548" y="885825"/>
            <a:ext cx="6613452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870410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3000375" cy="10143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2045948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5924" y="164592"/>
            <a:ext cx="1310831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0461" y="162210"/>
            <a:ext cx="413335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5924" y="828675"/>
            <a:ext cx="5193752" cy="1014387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None/>
              <a:defRPr sz="1050"/>
            </a:lvl1pPr>
            <a:lvl2pPr marL="385763" indent="-214313">
              <a:buFont typeface="Arial" panose="020B0604020202020204" pitchFamily="34" charset="0"/>
              <a:buNone/>
              <a:defRPr sz="105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1050"/>
            </a:lvl4pPr>
            <a:lvl5pPr marL="814388" indent="-128588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03882"/>
            <a:ext cx="9144000" cy="293961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34191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7"/>
            <a:ext cx="1885950" cy="218918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188595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67811" y="1"/>
            <a:ext cx="6576190" cy="298928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3058221"/>
            <a:ext cx="1440180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3058221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3317682"/>
            <a:ext cx="6315075" cy="136861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844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005" y="836677"/>
            <a:ext cx="3935683" cy="7455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200275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2434" y="156816"/>
            <a:ext cx="1383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0639" y="156816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5825"/>
            <a:ext cx="3935683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1005" y="1600200"/>
            <a:ext cx="3935683" cy="30861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708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3" y="836676"/>
            <a:ext cx="2705753" cy="2377909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1144"/>
            <a:ext cx="1947830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4432" y="161144"/>
            <a:ext cx="1190033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208" y="161144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432" y="834504"/>
            <a:ext cx="5195243" cy="1475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77310" y="2625153"/>
            <a:ext cx="5466691" cy="2518348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9407604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2571751"/>
            <a:ext cx="1875980" cy="19139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9144000" cy="202882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2148968"/>
            <a:ext cx="2044782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2148968"/>
            <a:ext cx="1475509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2148968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2571750"/>
            <a:ext cx="6157653" cy="22574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73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73" y="836676"/>
            <a:ext cx="2702442" cy="105740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29025" y="156816"/>
            <a:ext cx="1885950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4515" y="164592"/>
            <a:ext cx="423256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673" y="2028825"/>
            <a:ext cx="2702442" cy="277177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1452" y="881743"/>
            <a:ext cx="5442548" cy="4261757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993457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455719"/>
            <a:ext cx="3314700" cy="123058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35" y="1"/>
            <a:ext cx="3627590" cy="31606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5956" y="156816"/>
            <a:ext cx="2044782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2893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5957" y="828675"/>
            <a:ext cx="4312786" cy="3857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0872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836676"/>
            <a:ext cx="2329001" cy="122738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1641" y="161144"/>
            <a:ext cx="1902741" cy="253746"/>
          </a:xfrm>
        </p:spPr>
        <p:txBody>
          <a:bodyPr/>
          <a:lstStyle/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161144"/>
            <a:ext cx="416961" cy="253746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263140"/>
            <a:ext cx="2563427" cy="288036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1642" y="828676"/>
            <a:ext cx="5607428" cy="400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5793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9144000" cy="514807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0" y="3811784"/>
            <a:ext cx="3000375" cy="876923"/>
          </a:xfrm>
        </p:spPr>
        <p:txBody>
          <a:bodyPr anchor="b">
            <a:normAutofit/>
          </a:bodyPr>
          <a:lstStyle>
            <a:lvl1pPr>
              <a:defRPr sz="1500" spc="-38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9300" y="156816"/>
            <a:ext cx="147801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0742" y="797719"/>
            <a:ext cx="7821215" cy="2631281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95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2655328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9144000" cy="3602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4325" y="2164205"/>
            <a:ext cx="6600826" cy="2664970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500" b="0" spc="-38" baseline="0">
                <a:solidFill>
                  <a:schemeClr val="tx1"/>
                </a:solidFill>
              </a:defRPr>
            </a:lvl1pPr>
            <a:lvl2pPr marL="171450" indent="0">
              <a:lnSpc>
                <a:spcPct val="85000"/>
              </a:lnSpc>
              <a:buNone/>
              <a:defRPr sz="3300" b="0" spc="-38" baseline="0">
                <a:solidFill>
                  <a:schemeClr val="tx1"/>
                </a:solidFill>
              </a:defRPr>
            </a:lvl2pPr>
            <a:lvl3pPr marL="342900" indent="0">
              <a:lnSpc>
                <a:spcPct val="85000"/>
              </a:lnSpc>
              <a:buNone/>
              <a:defRPr sz="3000" b="0" spc="-38" baseline="0">
                <a:solidFill>
                  <a:schemeClr val="tx1"/>
                </a:solidFill>
              </a:defRPr>
            </a:lvl3pPr>
            <a:lvl4pPr marL="514350" indent="0">
              <a:lnSpc>
                <a:spcPct val="85000"/>
              </a:lnSpc>
              <a:buNone/>
              <a:defRPr sz="2700" b="0" spc="-38" baseline="0">
                <a:solidFill>
                  <a:schemeClr val="tx1"/>
                </a:solidFill>
              </a:defRPr>
            </a:lvl4pPr>
            <a:lvl5pPr marL="685800" indent="0">
              <a:lnSpc>
                <a:spcPct val="85000"/>
              </a:lnSpc>
              <a:buNone/>
              <a:defRPr sz="2400" b="0" spc="-38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3074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655664"/>
            <a:ext cx="6379925" cy="499820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050" b="0" cap="all" spc="75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392072"/>
            <a:ext cx="6379925" cy="2141541"/>
          </a:xfrm>
        </p:spPr>
        <p:txBody>
          <a:bodyPr anchor="ctr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9252293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6286500" cy="5262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09118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924692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92" y="699073"/>
            <a:ext cx="8126654" cy="5280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401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991" y="1256710"/>
            <a:ext cx="3685439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713766"/>
            <a:ext cx="3675580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4875" y="1256710"/>
            <a:ext cx="372577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551" y="1713766"/>
            <a:ext cx="3737072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1700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6285232" cy="6571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7646942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0314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569214"/>
            <a:ext cx="5707251" cy="130115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2028826"/>
            <a:ext cx="6600825" cy="22106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1074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2028579"/>
            <a:ext cx="4099245" cy="2050038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9163" y="2028825"/>
            <a:ext cx="3307556" cy="11715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88302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7456807" cy="6571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63" y="1600200"/>
            <a:ext cx="7456807" cy="322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295" y="161144"/>
            <a:ext cx="2044782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0825" y="161144"/>
            <a:ext cx="1440180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A3E7070E-7272-4565-A6B2-8A1240025A52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8743" y="161144"/>
            <a:ext cx="416961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25" cap="all" baseline="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51909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9" r:id="rId21"/>
    <p:sldLayoutId id="2147483810" r:id="rId22"/>
    <p:sldLayoutId id="2147483811" r:id="rId23"/>
    <p:sldLayoutId id="2147483812" r:id="rId24"/>
    <p:sldLayoutId id="2147483813" r:id="rId25"/>
    <p:sldLayoutId id="2147483814" r:id="rId26"/>
    <p:sldLayoutId id="2147483815" r:id="rId27"/>
  </p:sldLayoutIdLst>
  <p:transition spd="slow">
    <p:push dir="u"/>
  </p:transition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8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socket.io/docs/v4/" TargetMode="External"/><Relationship Id="rId3" Type="http://schemas.openxmlformats.org/officeDocument/2006/relationships/hyperlink" Target="https://react.dev/" TargetMode="External"/><Relationship Id="rId7" Type="http://schemas.openxmlformats.org/officeDocument/2006/relationships/hyperlink" Target="https://www.mongodb.com/doc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xpressjs.com/" TargetMode="External"/><Relationship Id="rId5" Type="http://schemas.openxmlformats.org/officeDocument/2006/relationships/hyperlink" Target="https://nodejs.org/docs/" TargetMode="External"/><Relationship Id="rId4" Type="http://schemas.openxmlformats.org/officeDocument/2006/relationships/hyperlink" Target="https://vite.dev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4D21D3-C104-FEDF-92DE-A442469DFAB9}"/>
              </a:ext>
            </a:extLst>
          </p:cNvPr>
          <p:cNvSpPr txBox="1"/>
          <p:nvPr/>
        </p:nvSpPr>
        <p:spPr>
          <a:xfrm>
            <a:off x="1166461" y="7624"/>
            <a:ext cx="7908959" cy="563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b="1" dirty="0">
                <a:latin typeface="Times New Roman" panose="02020603050405020304" pitchFamily="18" charset="0"/>
                <a:ea typeface="Merriweather Bold"/>
                <a:cs typeface="Times New Roman" panose="02020603050405020304" pitchFamily="18" charset="0"/>
                <a:sym typeface="Merriweather Bold"/>
              </a:rPr>
              <a:t>N.B.K.R. INSTITUTE OF SCIENCE AND TECHNOLOGY </a:t>
            </a:r>
            <a:r>
              <a:rPr lang="en-US" sz="1200" dirty="0">
                <a:latin typeface="Times New Roman" panose="02020603050405020304" pitchFamily="18" charset="0"/>
                <a:ea typeface="Merriweather Bold"/>
                <a:cs typeface="Times New Roman" panose="02020603050405020304" pitchFamily="18" charset="0"/>
                <a:sym typeface="Merriweather Bold"/>
              </a:rPr>
              <a:t>(AUTONOMOUS)</a:t>
            </a:r>
            <a:endParaRPr lang="en-US" sz="1100" dirty="0">
              <a:latin typeface="Times New Roman" panose="02020603050405020304" pitchFamily="18" charset="0"/>
              <a:ea typeface="Merriweather Bold"/>
              <a:cs typeface="Times New Roman" panose="02020603050405020304" pitchFamily="18" charset="0"/>
              <a:sym typeface="Merriweather Bold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B7DC0E-58FD-8999-F293-A27657587E3B}"/>
              </a:ext>
            </a:extLst>
          </p:cNvPr>
          <p:cNvGrpSpPr/>
          <p:nvPr/>
        </p:nvGrpSpPr>
        <p:grpSpPr>
          <a:xfrm>
            <a:off x="175861" y="132315"/>
            <a:ext cx="914400" cy="914400"/>
            <a:chOff x="0" y="0"/>
            <a:chExt cx="3596767" cy="435504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A95341A-C58E-FDEB-B119-BE6DCEC877D8}"/>
                </a:ext>
              </a:extLst>
            </p:cNvPr>
            <p:cNvSpPr/>
            <p:nvPr/>
          </p:nvSpPr>
          <p:spPr>
            <a:xfrm>
              <a:off x="0" y="0"/>
              <a:ext cx="3596767" cy="4355084"/>
            </a:xfrm>
            <a:custGeom>
              <a:avLst/>
              <a:gdLst/>
              <a:ahLst/>
              <a:cxnLst/>
              <a:rect l="l" t="t" r="r" b="b"/>
              <a:pathLst>
                <a:path w="3596767" h="4355084">
                  <a:moveTo>
                    <a:pt x="0" y="0"/>
                  </a:moveTo>
                  <a:lnTo>
                    <a:pt x="3596767" y="0"/>
                  </a:lnTo>
                  <a:lnTo>
                    <a:pt x="3596767" y="4355084"/>
                  </a:lnTo>
                  <a:lnTo>
                    <a:pt x="0" y="4355084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l="-7917" r="-79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210C60-0C80-1AA0-86A2-CC7C618E7240}"/>
              </a:ext>
            </a:extLst>
          </p:cNvPr>
          <p:cNvSpPr txBox="1"/>
          <p:nvPr/>
        </p:nvSpPr>
        <p:spPr>
          <a:xfrm>
            <a:off x="2126733" y="533601"/>
            <a:ext cx="5958387" cy="625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Affiliated to JNTUA, </a:t>
            </a: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Ananthapuramu</a:t>
            </a: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Accredited by NAAC with ‘</a:t>
            </a: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A’Grade</a:t>
            </a:r>
            <a:endParaRPr lang="en-US" sz="1400" dirty="0">
              <a:latin typeface="Times New Roman" panose="02020603050405020304" pitchFamily="18" charset="0"/>
              <a:ea typeface="Merriweather"/>
              <a:cs typeface="Times New Roman" panose="02020603050405020304" pitchFamily="18" charset="0"/>
              <a:sym typeface="Merriweather"/>
            </a:endParaRPr>
          </a:p>
          <a:p>
            <a:pPr algn="ctr">
              <a:lnSpc>
                <a:spcPts val="2561"/>
              </a:lnSpc>
            </a:pPr>
            <a:endParaRPr lang="en-US" sz="1400" dirty="0">
              <a:latin typeface="Times New Roman" panose="02020603050405020304" pitchFamily="18" charset="0"/>
              <a:ea typeface="Merriweather"/>
              <a:cs typeface="Times New Roman" panose="02020603050405020304" pitchFamily="18" charset="0"/>
              <a:sym typeface="Merriweath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56F57-2A8B-964D-4105-D9D6F6CCDB51}"/>
              </a:ext>
            </a:extLst>
          </p:cNvPr>
          <p:cNvSpPr txBox="1"/>
          <p:nvPr/>
        </p:nvSpPr>
        <p:spPr>
          <a:xfrm>
            <a:off x="2231695" y="1097473"/>
            <a:ext cx="5748461" cy="29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Vidyanagar,Tirupathi</a:t>
            </a: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Dist.A.P</a:t>
            </a:r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. India-524413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B6E30D-A412-B635-A060-ECB3D4B106B0}"/>
              </a:ext>
            </a:extLst>
          </p:cNvPr>
          <p:cNvSpPr txBox="1"/>
          <p:nvPr/>
        </p:nvSpPr>
        <p:spPr>
          <a:xfrm>
            <a:off x="1932682" y="1499769"/>
            <a:ext cx="5278636" cy="79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1"/>
              </a:lnSpc>
            </a:pPr>
            <a:r>
              <a:rPr lang="en-US" sz="2561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BYTEXL PROJECT</a:t>
            </a:r>
          </a:p>
          <a:p>
            <a:pPr algn="ctr">
              <a:lnSpc>
                <a:spcPts val="3181"/>
              </a:lnSpc>
            </a:pPr>
            <a:r>
              <a:rPr lang="en-US" sz="2561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Title: </a:t>
            </a:r>
            <a:r>
              <a:rPr lang="en-US" sz="2561" b="1" dirty="0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GameMate</a:t>
            </a:r>
            <a:endParaRPr lang="en-US" sz="2561" b="1" dirty="0"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A7C315-4A6D-0862-78E0-8A0F908647E2}"/>
              </a:ext>
            </a:extLst>
          </p:cNvPr>
          <p:cNvSpPr txBox="1"/>
          <p:nvPr/>
        </p:nvSpPr>
        <p:spPr>
          <a:xfrm>
            <a:off x="3520811" y="851444"/>
            <a:ext cx="3170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Courses Accredited by NBA Under Tier-I</a:t>
            </a:r>
            <a:endParaRPr lang="en-IN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9C1C20-2E6B-5251-710F-95F4BA761A10}"/>
              </a:ext>
            </a:extLst>
          </p:cNvPr>
          <p:cNvSpPr txBox="1"/>
          <p:nvPr/>
        </p:nvSpPr>
        <p:spPr>
          <a:xfrm>
            <a:off x="266640" y="2294923"/>
            <a:ext cx="8610720" cy="2513509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>
              <a:lnSpc>
                <a:spcPts val="2809"/>
              </a:lnSpc>
            </a:pPr>
            <a:r>
              <a:rPr lang="en-US" sz="12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Team Members: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C. Lokesh (24KB1A0596) (Team Leader)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A. Sai Lokesh (24KB1A0501)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A. Sai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Samslesh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(24KB1A0517)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 Vasu (25KB5A0505)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V. Sreenivasulu (25KB5A0508)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K. Sai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Masthan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(25KB5A0526)</a:t>
            </a: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ts val="2809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218B4-5AE6-D975-59C2-F396A4429AD6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DD90F55-6425-7658-8A0C-65195D33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FC837-DB4F-B0AF-B5C8-BF5B5D55DB72}"/>
              </a:ext>
            </a:extLst>
          </p:cNvPr>
          <p:cNvSpPr txBox="1"/>
          <p:nvPr/>
        </p:nvSpPr>
        <p:spPr>
          <a:xfrm>
            <a:off x="810490" y="955923"/>
            <a:ext cx="3810659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and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Screenshots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8EAC04-F3CA-C1AA-9787-481EFD0CF8E7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3369887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D76AF9A-6E88-27AB-FF44-F4E1880D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65637-6C3B-FC85-731B-BA1C06E8CB95}"/>
              </a:ext>
            </a:extLst>
          </p:cNvPr>
          <p:cNvSpPr txBox="1"/>
          <p:nvPr/>
        </p:nvSpPr>
        <p:spPr>
          <a:xfrm>
            <a:off x="350407" y="448091"/>
            <a:ext cx="84431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Gaming has become a popular way for people to connect and interact online.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Many gamers face difficulties finding teammates who share their interests, preferred games, and playing schedules.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GameMate</a:t>
            </a:r>
            <a:r>
              <a:rPr lang="en-IN" sz="2400" dirty="0"/>
              <a:t> is a web-based platform designed to connect gamers and help them find suitable teammates.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provides features for gamer profiles, team formation, game discovery, and communication.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DB3FF-85A9-5951-1E5D-13C4EBDFB4FC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4200701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14F90BB-C1B3-BC3B-3E58-3D58B458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47E15-7AB7-507F-3B5D-446645164DCC}"/>
              </a:ext>
            </a:extLst>
          </p:cNvPr>
          <p:cNvSpPr txBox="1"/>
          <p:nvPr/>
        </p:nvSpPr>
        <p:spPr>
          <a:xfrm>
            <a:off x="457200" y="632757"/>
            <a:ext cx="82296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Problem Statement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Gamers often struggle to find reliable teammates for multiplayer games.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Finding players with similar interests, skill levels, and availability can be difficult.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Communication and team coordination can become challenging when players use different platforms.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a need for a centralized platform that makes it easier to discover gamers and form teams.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36ADB-B4C4-07D9-1A79-8D2D97CF5F41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3322086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D563DA4-D9AE-F9F1-9960-5CC08A4A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8B0DD-238F-5C8C-1EE4-714FD372F2FC}"/>
              </a:ext>
            </a:extLst>
          </p:cNvPr>
          <p:cNvSpPr txBox="1"/>
          <p:nvPr/>
        </p:nvSpPr>
        <p:spPr>
          <a:xfrm>
            <a:off x="301725" y="817423"/>
            <a:ext cx="854054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develop a user-friendly gaming community platform.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help gamers find and connect with suitable teammates.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allow users to create and join gaming teams.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provide gamer profiles and game discovery features.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To support communication and coordination between players.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BAA46-737C-8D5A-C6C4-8F097512A450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2313863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3A905B8-B726-582A-046B-D4D8E977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9A74C6-2919-FEFF-09C3-01B1E8C50EC4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F66F31-BC6B-265C-389E-877742860788}"/>
              </a:ext>
            </a:extLst>
          </p:cNvPr>
          <p:cNvSpPr txBox="1"/>
          <p:nvPr/>
        </p:nvSpPr>
        <p:spPr>
          <a:xfrm>
            <a:off x="0" y="0"/>
            <a:ext cx="2452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Structure: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F044-F89B-06AB-E8E8-63BF0234A16D}"/>
              </a:ext>
            </a:extLst>
          </p:cNvPr>
          <p:cNvSpPr txBox="1"/>
          <p:nvPr/>
        </p:nvSpPr>
        <p:spPr>
          <a:xfrm>
            <a:off x="1026777" y="694313"/>
            <a:ext cx="576233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/>
              <a:t>gamemate</a:t>
            </a:r>
            <a:r>
              <a:rPr lang="en-IN" sz="1400" dirty="0"/>
              <a:t>/</a:t>
            </a:r>
          </a:p>
          <a:p>
            <a:r>
              <a:rPr lang="en-IN" sz="1400" dirty="0"/>
              <a:t>├── client/              # React and Vite frontend</a:t>
            </a:r>
          </a:p>
          <a:p>
            <a:r>
              <a:rPr lang="en-IN" sz="1400" dirty="0"/>
              <a:t>│   └── </a:t>
            </a:r>
            <a:r>
              <a:rPr lang="en-IN" sz="1400" dirty="0" err="1"/>
              <a:t>src</a:t>
            </a:r>
            <a:r>
              <a:rPr lang="en-IN" sz="1400" dirty="0"/>
              <a:t>/</a:t>
            </a:r>
          </a:p>
          <a:p>
            <a:r>
              <a:rPr lang="en-IN" sz="1400" dirty="0"/>
              <a:t>│       ├── components/</a:t>
            </a:r>
          </a:p>
          <a:p>
            <a:r>
              <a:rPr lang="en-IN" sz="1400" dirty="0"/>
              <a:t>│       ├── context/</a:t>
            </a:r>
          </a:p>
          <a:p>
            <a:r>
              <a:rPr lang="en-IN" sz="1400" dirty="0"/>
              <a:t>│       ├── pages/</a:t>
            </a:r>
          </a:p>
          <a:p>
            <a:r>
              <a:rPr lang="en-IN" sz="1400" dirty="0"/>
              <a:t>│       └── services/</a:t>
            </a:r>
          </a:p>
          <a:p>
            <a:r>
              <a:rPr lang="en-IN" sz="1400" dirty="0"/>
              <a:t>├── server/              # Express API and Socket.IO server</a:t>
            </a:r>
          </a:p>
          <a:p>
            <a:r>
              <a:rPr lang="en-IN" sz="1400" dirty="0"/>
              <a:t>│   ├── config/</a:t>
            </a:r>
          </a:p>
          <a:p>
            <a:r>
              <a:rPr lang="en-IN" sz="1400" dirty="0"/>
              <a:t>│   ├── controllers/</a:t>
            </a:r>
          </a:p>
          <a:p>
            <a:r>
              <a:rPr lang="en-IN" sz="1400" dirty="0"/>
              <a:t>│   ├── middleware/</a:t>
            </a:r>
          </a:p>
          <a:p>
            <a:r>
              <a:rPr lang="en-IN" sz="1400" dirty="0"/>
              <a:t>│   ├── models/</a:t>
            </a:r>
          </a:p>
          <a:p>
            <a:r>
              <a:rPr lang="en-IN" sz="1400" dirty="0"/>
              <a:t>│   ├── routes/</a:t>
            </a:r>
          </a:p>
          <a:p>
            <a:r>
              <a:rPr lang="en-IN" sz="1400" dirty="0"/>
              <a:t>│   ├── scripts/</a:t>
            </a:r>
          </a:p>
          <a:p>
            <a:r>
              <a:rPr lang="en-IN" sz="1400" dirty="0"/>
              <a:t>│   └── socket/</a:t>
            </a:r>
          </a:p>
          <a:p>
            <a:r>
              <a:rPr lang="en-IN" sz="1400" dirty="0"/>
              <a:t>├── </a:t>
            </a:r>
            <a:r>
              <a:rPr lang="en-IN" sz="1400" dirty="0" err="1"/>
              <a:t>package.json</a:t>
            </a:r>
            <a:endParaRPr lang="en-IN" sz="1400" dirty="0"/>
          </a:p>
          <a:p>
            <a:r>
              <a:rPr lang="en-IN" sz="1400" dirty="0"/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2706224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27DD33D-0DD8-409C-3BFA-2F0D1D2B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2E4BBF-560B-5EE6-9B5F-F97417022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64634"/>
              </p:ext>
            </p:extLst>
          </p:nvPr>
        </p:nvGraphicFramePr>
        <p:xfrm>
          <a:off x="970518" y="799565"/>
          <a:ext cx="7202964" cy="3931920"/>
        </p:xfrm>
        <a:graphic>
          <a:graphicData uri="http://schemas.openxmlformats.org/drawingml/2006/table">
            <a:tbl>
              <a:tblPr/>
              <a:tblGrid>
                <a:gridCol w="3601482">
                  <a:extLst>
                    <a:ext uri="{9D8B030D-6E8A-4147-A177-3AD203B41FA5}">
                      <a16:colId xmlns:a16="http://schemas.microsoft.com/office/drawing/2014/main" val="1696995337"/>
                    </a:ext>
                  </a:extLst>
                </a:gridCol>
                <a:gridCol w="3601482">
                  <a:extLst>
                    <a:ext uri="{9D8B030D-6E8A-4147-A177-3AD203B41FA5}">
                      <a16:colId xmlns:a16="http://schemas.microsoft.com/office/drawing/2014/main" val="1417545913"/>
                    </a:ext>
                  </a:extLst>
                </a:gridCol>
              </a:tblGrid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730263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Authentication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Allows users to register and log in.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89337"/>
                  </a:ext>
                </a:extLst>
              </a:tr>
              <a:tr h="668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Gamer Profile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Displays gamer information and gaming interests.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628770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Game Discovery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Helps users explore available games.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26050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Gamers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users discover potential teammates.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29418"/>
                  </a:ext>
                </a:extLst>
              </a:tr>
              <a:tr h="668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Team Management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Allows users to create teams and send team requests.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795379"/>
                  </a:ext>
                </a:extLst>
              </a:tr>
              <a:tr h="474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 and Notifications</a:t>
                      </a:r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Supports communication and updates.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9325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C29195-B937-E545-2679-889B7D104CAE}"/>
              </a:ext>
            </a:extLst>
          </p:cNvPr>
          <p:cNvSpPr txBox="1"/>
          <p:nvPr/>
        </p:nvSpPr>
        <p:spPr>
          <a:xfrm>
            <a:off x="970518" y="88849"/>
            <a:ext cx="7202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A. Modules of </a:t>
            </a:r>
            <a:r>
              <a:rPr lang="en-IN" sz="3600" b="1" dirty="0" err="1"/>
              <a:t>GameMate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555DA-8F43-2A2C-CD9F-0B13410D4AC6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484865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4AF9039-8FD7-0C3B-4C5D-8E32E7E1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DCC8CE-60BD-FDF0-E17C-A7116772ADEB}"/>
              </a:ext>
            </a:extLst>
          </p:cNvPr>
          <p:cNvSpPr txBox="1"/>
          <p:nvPr/>
        </p:nvSpPr>
        <p:spPr>
          <a:xfrm>
            <a:off x="304810" y="771257"/>
            <a:ext cx="85343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Requirements</a:t>
            </a:r>
          </a:p>
          <a:p>
            <a:pPr>
              <a:buNone/>
            </a:pPr>
            <a:r>
              <a:rPr lang="en-IN" sz="2400" dirty="0"/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Frontend: HTML, CSS, JavaScript, React and Vite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Backend: Node.js and Express.js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Database: MongoDB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Development tools: Visual Studio Code and Git</a:t>
            </a:r>
          </a:p>
          <a:p>
            <a:pPr>
              <a:buNone/>
            </a:pPr>
            <a:r>
              <a:rPr lang="en-IN" sz="2400" dirty="0"/>
              <a:t>Hardware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Computer or laptop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Internet connection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Modern web browser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B9D01C-8839-AAFD-6397-384910F97605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3381402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2101EB0-57EC-2201-B146-FC7F686C9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4C73E3-6E29-A7BE-8C7D-7FD832774B19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E0F29-FA7D-CFFF-1497-A6EDB74E7C76}"/>
              </a:ext>
            </a:extLst>
          </p:cNvPr>
          <p:cNvSpPr txBox="1"/>
          <p:nvPr/>
        </p:nvSpPr>
        <p:spPr>
          <a:xfrm>
            <a:off x="0" y="0"/>
            <a:ext cx="3150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Screenshots: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B49F5F-8488-AC60-F0C5-8BE83040B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4" y="752600"/>
            <a:ext cx="3662326" cy="196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6AAF33-53ED-E703-DC67-A22E14634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695" y="2063750"/>
            <a:ext cx="3845674" cy="2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93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9A8E7D9-7F06-988E-BB3B-B6C04779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C94AB3-D461-F452-A273-CFE73962E973}"/>
              </a:ext>
            </a:extLst>
          </p:cNvPr>
          <p:cNvSpPr txBox="1"/>
          <p:nvPr/>
        </p:nvSpPr>
        <p:spPr>
          <a:xfrm>
            <a:off x="165099" y="7620"/>
            <a:ext cx="8813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Key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User registration and login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Gamer profiles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Game browsing and discovery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Teammate 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Team creation and joining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Chat and notifications</a:t>
            </a:r>
          </a:p>
          <a:p>
            <a:r>
              <a:rPr lang="en-IN" sz="2400" b="1" dirty="0"/>
              <a:t>Conclusion</a:t>
            </a:r>
          </a:p>
          <a:p>
            <a:r>
              <a:rPr lang="en-IN" sz="2400" dirty="0" err="1"/>
              <a:t>GameMate</a:t>
            </a:r>
            <a:r>
              <a:rPr lang="en-IN" sz="2400" dirty="0"/>
              <a:t> aims to make multiplayer gaming more social and organized by helping gamers find teammates, form teams, and communicate through a single platform. It provides a foundation for building a connected gaming community.</a:t>
            </a:r>
          </a:p>
          <a:p>
            <a:pPr lvl="0"/>
            <a:endParaRPr lang="en-IN" sz="24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C0860-C99F-F030-CAAA-CEA6E9736D1C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833652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5A659A2-17C9-B3BB-01A5-0AD936507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739C68-349A-C319-523B-9E0C13BF693F}"/>
              </a:ext>
            </a:extLst>
          </p:cNvPr>
          <p:cNvSpPr txBox="1"/>
          <p:nvPr/>
        </p:nvSpPr>
        <p:spPr>
          <a:xfrm>
            <a:off x="247650" y="1002089"/>
            <a:ext cx="8648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600" b="1" dirty="0"/>
              <a:t>References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React Documentation — </a:t>
            </a:r>
            <a:r>
              <a:rPr lang="en-IN" sz="2400" dirty="0" err="1">
                <a:hlinkClick r:id="rId3"/>
              </a:rPr>
              <a:t>react.dev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Vite Documentation — </a:t>
            </a:r>
            <a:r>
              <a:rPr lang="en-IN" sz="2400" dirty="0" err="1">
                <a:hlinkClick r:id="rId4"/>
              </a:rPr>
              <a:t>vite.dev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Node.js Documentation — </a:t>
            </a:r>
            <a:r>
              <a:rPr lang="en-IN" sz="2400" dirty="0">
                <a:hlinkClick r:id="rId5"/>
              </a:rPr>
              <a:t>nodejs.org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Express.js Documentation — </a:t>
            </a:r>
            <a:r>
              <a:rPr lang="en-IN" sz="2400" dirty="0">
                <a:hlinkClick r:id="rId6"/>
              </a:rPr>
              <a:t>expressjs.com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MongoDB Documentation — </a:t>
            </a:r>
            <a:r>
              <a:rPr lang="en-IN" sz="2400" dirty="0">
                <a:hlinkClick r:id="rId7"/>
              </a:rPr>
              <a:t>mongodb.com/docs</a:t>
            </a:r>
            <a:endParaRPr lang="en-IN" sz="2400" dirty="0"/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Socket.IO Documentation — </a:t>
            </a:r>
            <a:r>
              <a:rPr lang="en-IN" sz="2400" dirty="0">
                <a:hlinkClick r:id="rId8"/>
              </a:rPr>
              <a:t>socket.io/docs</a:t>
            </a:r>
            <a:endParaRPr lang="en-IN" sz="24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8FB43-17CE-BB59-D044-6FA6184FBF6C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1580850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59A25B6-6C62-A80F-35D3-3078A36B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58663D-003A-5A07-CDA5-5F0B012EAAA4}"/>
              </a:ext>
            </a:extLst>
          </p:cNvPr>
          <p:cNvSpPr txBox="1"/>
          <p:nvPr/>
        </p:nvSpPr>
        <p:spPr>
          <a:xfrm>
            <a:off x="293424" y="1463754"/>
            <a:ext cx="855715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IN" sz="3600" b="1" dirty="0"/>
              <a:t>Thank You</a:t>
            </a:r>
          </a:p>
          <a:p>
            <a:pPr algn="ctr">
              <a:buNone/>
            </a:pPr>
            <a:endParaRPr lang="en-IN" sz="3600" b="1" dirty="0"/>
          </a:p>
          <a:p>
            <a:pPr algn="ctr">
              <a:buNone/>
            </a:pPr>
            <a:r>
              <a:rPr lang="en-IN" sz="2400" b="1" dirty="0"/>
              <a:t>Questions and Suggestions?</a:t>
            </a:r>
          </a:p>
          <a:p>
            <a:pPr algn="ctr">
              <a:buNone/>
            </a:pPr>
            <a:endParaRPr lang="en-IN" sz="2400" b="1" dirty="0"/>
          </a:p>
          <a:p>
            <a:pPr algn="ctr">
              <a:buNone/>
            </a:pPr>
            <a:r>
              <a:rPr lang="en-IN" dirty="0"/>
              <a:t>We welcome your questions, feedback, and suggestions regarding </a:t>
            </a:r>
            <a:r>
              <a:rPr lang="en-IN" dirty="0" err="1"/>
              <a:t>GameMate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3F59A-58E5-EBBD-0484-A268F2D3D809}"/>
              </a:ext>
            </a:extLst>
          </p:cNvPr>
          <p:cNvSpPr txBox="1"/>
          <p:nvPr/>
        </p:nvSpPr>
        <p:spPr>
          <a:xfrm>
            <a:off x="2354886" y="4795870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Year: 3</a:t>
            </a:r>
            <a:r>
              <a:rPr lang="en-IN" baseline="30000" dirty="0"/>
              <a:t>rd</a:t>
            </a:r>
            <a:r>
              <a:rPr lang="en-IN" dirty="0"/>
              <a:t> Year | Branch: CSE | Section: C</a:t>
            </a:r>
          </a:p>
        </p:txBody>
      </p:sp>
    </p:spTree>
    <p:extLst>
      <p:ext uri="{BB962C8B-B14F-4D97-AF65-F5344CB8AC3E}">
        <p14:creationId xmlns:p14="http://schemas.microsoft.com/office/powerpoint/2010/main" val="600172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30A07F6-D38E-4937-AB22-0F9DD6DA233F}">
  <we:reference id="wa200005669" version="3.0.0.0" store="en-US" storeType="OMEX"/>
  <we:alternateReferences>
    <we:reference id="wa200005669" version="3.0.0.0" store="wa20000566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E0D4134-41DE-49BE-A244-9720A7B16984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735</Words>
  <Application>Microsoft Office PowerPoint</Application>
  <PresentationFormat>On-screen Show (16:9)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 Bold</vt:lpstr>
      <vt:lpstr>Times New Roman</vt:lpstr>
      <vt:lpstr>Arial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lokesh</dc:creator>
  <cp:lastModifiedBy>sai lokesh</cp:lastModifiedBy>
  <cp:revision>13</cp:revision>
  <dcterms:modified xsi:type="dcterms:W3CDTF">2026-10-28T05:32:20Z</dcterms:modified>
</cp:coreProperties>
</file>